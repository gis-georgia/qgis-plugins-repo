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-96" y="-4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923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785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4978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6759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835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814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693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5107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629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244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99101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C4749-93B6-4AFC-A858-82B997218B68}" type="datetimeFigureOut">
              <a:rPr lang="en-US" smtClean="0"/>
              <a:pPr/>
              <a:t>09/09/2016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06AEF-D63B-4614-B894-0FDD994049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71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a-GE" sz="1600" dirty="0" smtClean="0"/>
              <a:t>საკადასტრო აგეგმვითი/აზომვითი ნახაზის</a:t>
            </a:r>
            <a:br>
              <a:rPr lang="ka-GE" sz="1600" dirty="0" smtClean="0"/>
            </a:br>
            <a:r>
              <a:rPr lang="ka-GE" sz="1600" dirty="0" smtClean="0"/>
              <a:t>ქაღალდის და ელექტრონული მონაცემების შევსების ინსტრუქცია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170702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21" y="160422"/>
            <a:ext cx="11863137" cy="240632"/>
          </a:xfrm>
        </p:spPr>
        <p:txBody>
          <a:bodyPr>
            <a:normAutofit fontScale="90000"/>
          </a:bodyPr>
          <a:lstStyle/>
          <a:p>
            <a:pPr algn="ctr"/>
            <a:r>
              <a:rPr lang="ka-GE" sz="1200" dirty="0" smtClean="0"/>
              <a:t>საკადასტრო აგეგმვითი</a:t>
            </a:r>
            <a:r>
              <a:rPr lang="en-US" sz="1200" dirty="0" smtClean="0"/>
              <a:t>/</a:t>
            </a:r>
            <a:r>
              <a:rPr lang="ka-GE" sz="1200" dirty="0" smtClean="0"/>
              <a:t> ნახაზის ქაღალდის ვერსია</a:t>
            </a:r>
            <a:endParaRPr lang="en-US" sz="12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309937" y="465221"/>
            <a:ext cx="6713621" cy="6272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a-GE" sz="800" dirty="0" smtClean="0"/>
              <a:t>საკადასტრო აგეგმვითი/აზომვითი ნახაზის ქაღალდის ვერსიაზე ასახული მონაცემები</a:t>
            </a:r>
          </a:p>
          <a:p>
            <a:pPr>
              <a:buAutoNum type="arabicPeriod"/>
            </a:pPr>
            <a:r>
              <a:rPr lang="ka-GE" sz="800" dirty="0" smtClean="0"/>
              <a:t>სათაური აუცილებლად ,,საკადასტრო აგეგმვითი</a:t>
            </a:r>
            <a:r>
              <a:rPr lang="en-US" sz="800" dirty="0" smtClean="0"/>
              <a:t>/</a:t>
            </a:r>
            <a:r>
              <a:rPr lang="ka-GE" sz="800" dirty="0" smtClean="0"/>
              <a:t>აზომვითი ნახაზი“</a:t>
            </a:r>
          </a:p>
          <a:p>
            <a:pPr>
              <a:buAutoNum type="arabicPeriod"/>
            </a:pPr>
            <a:r>
              <a:rPr lang="ka-GE" sz="800" dirty="0" smtClean="0"/>
              <a:t>სახელმწიფო გეოდეზიური კოორდინატთა ბადე </a:t>
            </a:r>
            <a:r>
              <a:rPr lang="en-US" sz="800" b="1" dirty="0" smtClean="0"/>
              <a:t>UTM WGS 84 38N/UTM WGS 84 37N</a:t>
            </a:r>
            <a:endParaRPr lang="ka-GE" sz="800" b="1" dirty="0" smtClean="0"/>
          </a:p>
          <a:p>
            <a:pPr>
              <a:buAutoNum type="arabicPeriod"/>
            </a:pPr>
            <a:r>
              <a:rPr lang="ka-GE" sz="800" dirty="0" smtClean="0"/>
              <a:t>ჩრდილოეთის მიმართულება, მასშტაბი.</a:t>
            </a:r>
            <a:endParaRPr lang="en-US" sz="800" dirty="0" smtClean="0"/>
          </a:p>
          <a:p>
            <a:pPr>
              <a:buAutoNum type="arabicPeriod"/>
            </a:pPr>
            <a:r>
              <a:rPr lang="ka-GE" sz="800" dirty="0" smtClean="0"/>
              <a:t>მიწის ნაკვეთის საზღვარი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ა) ფიქსირებული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ბ) არაფიქსირებული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გ) მიწის ნაკვეთის საზღვრის გადაკვეთის წერტილები აღნიშვნით (მაგ: </a:t>
            </a:r>
            <a:r>
              <a:rPr lang="en-US" sz="800" dirty="0" smtClean="0"/>
              <a:t>A,B,C…)</a:t>
            </a:r>
            <a:r>
              <a:rPr lang="ka-GE" sz="800" dirty="0" smtClean="0"/>
              <a:t> (მომიჯნავე ობიექტის მიხედვით)  </a:t>
            </a:r>
          </a:p>
          <a:p>
            <a:pPr>
              <a:buAutoNum type="arabicPeriod" startAt="5"/>
            </a:pPr>
            <a:r>
              <a:rPr lang="ka-GE" sz="800" dirty="0" smtClean="0"/>
              <a:t>შენობა-ნაგებობა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შენობა-ნაგებობის ნუმერაცია/სართულიანობა</a:t>
            </a:r>
            <a:endParaRPr lang="en-US" sz="800" dirty="0" smtClean="0"/>
          </a:p>
          <a:p>
            <a:pPr marL="0" indent="0">
              <a:buNone/>
            </a:pPr>
            <a:r>
              <a:rPr lang="en-US" sz="800" dirty="0"/>
              <a:t> </a:t>
            </a:r>
            <a:r>
              <a:rPr lang="en-US" sz="800" dirty="0" smtClean="0"/>
              <a:t>        </a:t>
            </a:r>
            <a:r>
              <a:rPr lang="ka-GE" sz="800" dirty="0" smtClean="0"/>
              <a:t>ა) აშენებული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ბ) მშენებარე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გ) დანგრეული/ნანგრევი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დ) მიწისქვეშა </a:t>
            </a:r>
          </a:p>
          <a:p>
            <a:pPr>
              <a:buAutoNum type="arabicPeriod" startAt="6"/>
            </a:pPr>
            <a:r>
              <a:rPr lang="ka-GE" sz="800" dirty="0" smtClean="0"/>
              <a:t>ვალდებულება</a:t>
            </a:r>
          </a:p>
          <a:p>
            <a:pPr marL="0" indent="0">
              <a:buNone/>
            </a:pPr>
            <a:r>
              <a:rPr lang="ka-GE" sz="800" dirty="0" smtClean="0"/>
              <a:t>        ა) სერვიტუტი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ბ) უზურფრუქტი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გ) იჯარა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დ) ქირავნობა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 ე) აღნაგობა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 ვ) იპოთეკა</a:t>
            </a:r>
          </a:p>
          <a:p>
            <a:pPr marL="0" indent="0">
              <a:buNone/>
            </a:pPr>
            <a:r>
              <a:rPr lang="ka-GE" sz="800" dirty="0"/>
              <a:t> </a:t>
            </a:r>
            <a:r>
              <a:rPr lang="ka-GE" sz="800" dirty="0" smtClean="0"/>
              <a:t>        ზ) სხვა ფართობის მქონე შეზღუდვა</a:t>
            </a:r>
          </a:p>
          <a:p>
            <a:pPr>
              <a:buAutoNum type="arabicPeriod" startAt="7"/>
            </a:pPr>
            <a:r>
              <a:rPr lang="ka-GE" sz="800" dirty="0" smtClean="0"/>
              <a:t>მიმდებარე ობიექტები და მათ მიმართ ურთიერთგანლაგება/მანძილი.  (მაგ: მდინარე/მანძილი მდინარემდე)</a:t>
            </a:r>
          </a:p>
          <a:p>
            <a:pPr>
              <a:buAutoNum type="arabicPeriod" startAt="7"/>
            </a:pPr>
            <a:r>
              <a:rPr lang="ka-GE" sz="800" dirty="0" smtClean="0"/>
              <a:t>ხაზობრივი ნაგებობა და ხაზობრივი ნაგებობის თანმდევი წერტილოვანი ობიექტები. ხაზობრივი ნაგებობის ფაქტობრივი და გეგმარებითი სიგრძე.</a:t>
            </a:r>
          </a:p>
          <a:p>
            <a:pPr>
              <a:buAutoNum type="arabicPeriod" startAt="7"/>
            </a:pPr>
            <a:r>
              <a:rPr lang="ka-GE" sz="800" dirty="0" smtClean="0"/>
              <a:t>მისამართი, მიწის ნაკვეთის დანიშნულება, მიწის ნაკვეთის ფართობი, თარიღი.</a:t>
            </a:r>
          </a:p>
          <a:p>
            <a:pPr>
              <a:buAutoNum type="arabicPeriod" startAt="7"/>
            </a:pPr>
            <a:r>
              <a:rPr lang="ka-GE" sz="800" dirty="0" smtClean="0"/>
              <a:t>დაინტრესებული და აზომვაზე უფლებამოსილი პირის საიდენტიფიკაციო მონაცემები</a:t>
            </a:r>
            <a:endParaRPr lang="en-US" sz="1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76989" y="689812"/>
            <a:ext cx="4628148" cy="604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6989" y="465221"/>
            <a:ext cx="4628147" cy="6272130"/>
          </a:xfrm>
        </p:spPr>
      </p:pic>
      <p:cxnSp>
        <p:nvCxnSpPr>
          <p:cNvPr id="21" name="Straight Arrow Connector 20"/>
          <p:cNvCxnSpPr/>
          <p:nvPr/>
        </p:nvCxnSpPr>
        <p:spPr>
          <a:xfrm flipH="1" flipV="1">
            <a:off x="3769895" y="689812"/>
            <a:ext cx="1604210" cy="1283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002505" y="1042737"/>
            <a:ext cx="1371600" cy="3128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523874" y="1275347"/>
            <a:ext cx="850231" cy="2165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967789" y="2013284"/>
            <a:ext cx="2598822" cy="1259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1676401" y="1724526"/>
            <a:ext cx="3890210" cy="14357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2967789" y="2514433"/>
            <a:ext cx="2406316" cy="12113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031958" y="3890210"/>
            <a:ext cx="2366209" cy="124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1082842" y="3529263"/>
            <a:ext cx="4315325" cy="22378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772526" y="5991728"/>
            <a:ext cx="601580" cy="80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2691062" y="5767137"/>
            <a:ext cx="2683043" cy="5855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3665621" y="6256421"/>
            <a:ext cx="1732546" cy="3208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 flipV="1">
            <a:off x="2181726" y="4315326"/>
            <a:ext cx="3216441" cy="1451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3665621" y="3725777"/>
            <a:ext cx="1732546" cy="20413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4283242" y="6352674"/>
            <a:ext cx="1090863" cy="136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9076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21" y="160421"/>
            <a:ext cx="11863137" cy="328863"/>
          </a:xfrm>
        </p:spPr>
        <p:txBody>
          <a:bodyPr>
            <a:normAutofit/>
          </a:bodyPr>
          <a:lstStyle/>
          <a:p>
            <a:pPr algn="ctr"/>
            <a:r>
              <a:rPr lang="ka-GE" sz="1200" dirty="0" smtClean="0"/>
              <a:t>საკადასტრო აგეგმვითი</a:t>
            </a:r>
            <a:r>
              <a:rPr lang="en-US" sz="1200" dirty="0" smtClean="0"/>
              <a:t>/</a:t>
            </a:r>
            <a:r>
              <a:rPr lang="ka-GE" sz="1200" dirty="0" smtClean="0"/>
              <a:t> ნახაზის ქაღალდის ვერსია</a:t>
            </a:r>
            <a:endParaRPr lang="en-US" sz="12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309937" y="689812"/>
            <a:ext cx="6713621" cy="6047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a-GE" sz="1000" dirty="0" smtClean="0"/>
              <a:t>საკადასტრო აგეგმვითი/აზომვითი ნახაზის ქაღალდის ვერსიაზე ასახული მონაცემები</a:t>
            </a:r>
            <a:r>
              <a:rPr lang="en-US" sz="1000" dirty="0" smtClean="0"/>
              <a:t> (</a:t>
            </a:r>
            <a:r>
              <a:rPr lang="ka-GE" sz="1000" dirty="0" smtClean="0"/>
              <a:t>მეორე გვერდი)</a:t>
            </a:r>
          </a:p>
          <a:p>
            <a:pPr>
              <a:buAutoNum type="arabicPeriod"/>
            </a:pPr>
            <a:r>
              <a:rPr lang="ka-GE" sz="1000" dirty="0" smtClean="0"/>
              <a:t>უძრავი ნივთის მისამართი, ფართობი, დანიშნულება.</a:t>
            </a:r>
          </a:p>
          <a:p>
            <a:pPr>
              <a:buAutoNum type="arabicPeriod"/>
            </a:pPr>
            <a:r>
              <a:rPr lang="ka-GE" sz="1000" dirty="0" smtClean="0"/>
              <a:t>შენობა-ნაგებობის რიგითი ნომერი, დანიშნულება (საცხოვრებელი/არასაცხოვრებელი , მდგომარეობა (აშენებული, მშენებარე, ნანგრევი/დანგრეული, მიწისქვეშა), სართულიანობა.</a:t>
            </a:r>
          </a:p>
          <a:p>
            <a:pPr>
              <a:buAutoNum type="arabicPeriod"/>
            </a:pPr>
            <a:r>
              <a:rPr lang="ka-GE" sz="1000" dirty="0" smtClean="0"/>
              <a:t>ვალდებულება: სერვიტუტი, უზურფტუქტი, იჯარა, აღნაგობა, იპოთეკა, სხვა ფართობის მქონე ვალდებულება.</a:t>
            </a:r>
          </a:p>
          <a:p>
            <a:pPr>
              <a:buAutoNum type="arabicPeriod"/>
            </a:pPr>
            <a:r>
              <a:rPr lang="ka-GE" sz="1000" dirty="0" smtClean="0"/>
              <a:t>ხაზობრივი ნაგებობის ტიპი, ფაქტობრივი სიგრძე, გეგმარებითი სიგრძე, ხაზობრივი ნაგებობის თანმდევი წერტილოვანი ობიექტების ტიპი, ხაზობრივი ნაგებობის თანმდევი წერტილოვანი ობიექტების რაოდენობა.</a:t>
            </a:r>
          </a:p>
          <a:p>
            <a:pPr>
              <a:buAutoNum type="arabicPeriod"/>
            </a:pPr>
            <a:r>
              <a:rPr lang="ka-GE" sz="1000" dirty="0" smtClean="0"/>
              <a:t>მოსაზღვრის აღწერა (მესაკუთრე ან გეოგრაფიული ობიექტი (გზა, მდინარე, შეობა და ა.შ.)).</a:t>
            </a:r>
          </a:p>
          <a:p>
            <a:pPr>
              <a:buAutoNum type="arabicPeriod"/>
            </a:pPr>
            <a:r>
              <a:rPr lang="ka-GE" sz="1000" dirty="0" smtClean="0"/>
              <a:t>საკადასტრო აღწერაზე დამსწრე პირების სახელი გვარი</a:t>
            </a:r>
          </a:p>
          <a:p>
            <a:pPr>
              <a:buAutoNum type="arabicPeriod"/>
            </a:pPr>
            <a:endParaRPr lang="ka-GE" sz="1000" dirty="0"/>
          </a:p>
          <a:p>
            <a:pPr>
              <a:buAutoNum type="arabicPeriod"/>
            </a:pPr>
            <a:r>
              <a:rPr lang="ka-GE" sz="1000" dirty="0" smtClean="0"/>
              <a:t>საკადასტრო აგეგმვითი/აზომვითი სამუშაოების შემსრულებელი პირის სახელი, გვარი.</a:t>
            </a:r>
          </a:p>
          <a:p>
            <a:pPr>
              <a:buAutoNum type="arabicPeriod"/>
            </a:pPr>
            <a:endParaRPr lang="ka-GE" sz="1000" dirty="0"/>
          </a:p>
          <a:p>
            <a:pPr>
              <a:buAutoNum type="arabicPeriod"/>
            </a:pPr>
            <a:r>
              <a:rPr lang="ka-GE" sz="1000" dirty="0" smtClean="0"/>
              <a:t>საკადასტრო აგეგმვითი/აზომვითი სამუშაოების შემსრულებელი პირის საიდენტიფიკაციო მონაცემი.</a:t>
            </a:r>
          </a:p>
          <a:p>
            <a:pPr marL="0" indent="0">
              <a:buNone/>
            </a:pPr>
            <a:endParaRPr lang="ka-GE" sz="1000" dirty="0" smtClean="0"/>
          </a:p>
          <a:p>
            <a:pPr marL="0" indent="0">
              <a:buNone/>
            </a:pPr>
            <a:r>
              <a:rPr lang="ka-GE" sz="1000" dirty="0" smtClean="0"/>
              <a:t>9.    საკადასტრო აგეგმვითი/აზომვითი სამუშაოების შემსრულებელი პირის საკონტაქტო ინფორმაცია.</a:t>
            </a:r>
          </a:p>
          <a:p>
            <a:pPr>
              <a:buAutoNum type="arabicPeriod" startAt="10"/>
            </a:pPr>
            <a:r>
              <a:rPr lang="ka-GE" sz="1000" dirty="0" smtClean="0"/>
              <a:t>საკადასტრო აზომვის მეთოდოლოგია</a:t>
            </a:r>
            <a:r>
              <a:rPr lang="en-US" sz="1000" dirty="0" smtClean="0"/>
              <a:t> </a:t>
            </a:r>
            <a:r>
              <a:rPr lang="ka-GE" sz="1000" dirty="0" smtClean="0"/>
              <a:t>მაგ: (</a:t>
            </a:r>
            <a:r>
              <a:rPr lang="ka-GE" sz="1000" dirty="0"/>
              <a:t>რეალური დროის რეჟიმში (RTK</a:t>
            </a:r>
            <a:r>
              <a:rPr lang="ka-GE" sz="1000" dirty="0" smtClean="0"/>
              <a:t>);</a:t>
            </a:r>
            <a:r>
              <a:rPr lang="ka-GE" sz="1000" dirty="0"/>
              <a:t> სტატიკურ რეჟიმში (STATIC);</a:t>
            </a:r>
            <a:endParaRPr lang="ka-GE" sz="1000" dirty="0" smtClean="0"/>
          </a:p>
          <a:p>
            <a:pPr marL="0" indent="0">
              <a:buNone/>
            </a:pPr>
            <a:r>
              <a:rPr lang="ka-GE" sz="1000" dirty="0"/>
              <a:t>ჰორიზონტალური აგეგმვის </a:t>
            </a:r>
            <a:r>
              <a:rPr lang="ka-GE" sz="1000" dirty="0" smtClean="0"/>
              <a:t>მეთოდი; </a:t>
            </a:r>
            <a:r>
              <a:rPr lang="ka-GE" sz="1000" dirty="0"/>
              <a:t>წინასწარ გახშირების ქსელის წერტილების ზუსტი კოორდინატების </a:t>
            </a:r>
            <a:r>
              <a:rPr lang="ka-GE" sz="1000" dirty="0" smtClean="0"/>
              <a:t>განსაზღვრა და ა.შ.</a:t>
            </a:r>
            <a:endParaRPr lang="ka-GE" sz="1000" dirty="0"/>
          </a:p>
          <a:p>
            <a:pPr>
              <a:buAutoNum type="arabicPeriod" startAt="10"/>
            </a:pPr>
            <a:r>
              <a:rPr lang="ka-GE" sz="1000" dirty="0" smtClean="0"/>
              <a:t>აზომვის თარიღი (02.09.2016)</a:t>
            </a:r>
          </a:p>
          <a:p>
            <a:pPr>
              <a:buAutoNum type="arabicPeriod" startAt="10"/>
            </a:pPr>
            <a:r>
              <a:rPr lang="ka-GE" sz="1000" dirty="0" smtClean="0"/>
              <a:t>საკადასტრო აგეგმვითი/აზომვითი სამუშაოების შემსრულებელი პირი და მისი ხელმოწერა</a:t>
            </a:r>
          </a:p>
          <a:p>
            <a:pPr>
              <a:buAutoNum type="arabicPeriod" startAt="10"/>
            </a:pPr>
            <a:r>
              <a:rPr lang="ka-GE" sz="1000" dirty="0" smtClean="0"/>
              <a:t>დაინტერესებული პირი (სახელი, გვარი)</a:t>
            </a:r>
          </a:p>
          <a:p>
            <a:pPr>
              <a:buAutoNum type="arabicPeriod" startAt="10"/>
            </a:pPr>
            <a:r>
              <a:rPr lang="ka-GE" sz="1000" dirty="0" smtClean="0"/>
              <a:t>დაინტერესებული პირის საიდენტიფიკაციო მონაცემი (პირადი ნომერი)</a:t>
            </a:r>
          </a:p>
          <a:p>
            <a:pPr>
              <a:buAutoNum type="arabicPeriod" startAt="10"/>
            </a:pPr>
            <a:r>
              <a:rPr lang="ka-GE" sz="1000" dirty="0" smtClean="0"/>
              <a:t>დაინტერესებული პირის ხელმოწერა</a:t>
            </a:r>
          </a:p>
          <a:p>
            <a:pPr>
              <a:buAutoNum type="arabicPeriod" startAt="10"/>
            </a:pPr>
            <a:endParaRPr lang="en-US" sz="1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76989" y="689812"/>
            <a:ext cx="4628148" cy="604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1264" y="577516"/>
            <a:ext cx="4523874" cy="6226421"/>
          </a:xfrm>
        </p:spPr>
      </p:pic>
      <p:cxnSp>
        <p:nvCxnSpPr>
          <p:cNvPr id="10" name="Straight Arrow Connector 9"/>
          <p:cNvCxnSpPr/>
          <p:nvPr/>
        </p:nvCxnSpPr>
        <p:spPr>
          <a:xfrm flipH="1">
            <a:off x="1836821" y="1046747"/>
            <a:ext cx="3537284" cy="120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836821" y="1346536"/>
            <a:ext cx="3537284" cy="1052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007895" y="1758617"/>
            <a:ext cx="2302041" cy="1824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847475" y="2149641"/>
            <a:ext cx="2526630" cy="4973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732547" y="2541670"/>
            <a:ext cx="3641558" cy="9234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098759" y="2805363"/>
            <a:ext cx="1275346" cy="6196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3424989" y="3356812"/>
            <a:ext cx="1949116" cy="8622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24989" y="3857124"/>
            <a:ext cx="1949116" cy="6747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3424989" y="4368505"/>
            <a:ext cx="1884947" cy="4280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3424989" y="4656220"/>
            <a:ext cx="1949116" cy="3408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216445" y="5316953"/>
            <a:ext cx="2157660" cy="371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208421" y="5581647"/>
            <a:ext cx="2165684" cy="852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216445" y="5837321"/>
            <a:ext cx="2157660" cy="22659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3216445" y="6123635"/>
            <a:ext cx="2157660" cy="1688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216445" y="6404808"/>
            <a:ext cx="2157660" cy="2005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4899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589"/>
            <a:ext cx="10515600" cy="360948"/>
          </a:xfrm>
        </p:spPr>
        <p:txBody>
          <a:bodyPr>
            <a:normAutofit/>
          </a:bodyPr>
          <a:lstStyle/>
          <a:p>
            <a:pPr algn="ctr"/>
            <a:r>
              <a:rPr lang="ka-GE" sz="1200" dirty="0" smtClean="0"/>
              <a:t>საკადასტრო აგეგმვითი/აზომვითი ნახაზის ელექტრონული ვერსიის მონაცემები</a:t>
            </a:r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4998" y="641684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ნაკვეთის ელ. ვერსია </a:t>
            </a:r>
            <a:r>
              <a:rPr lang="en-US" sz="1600" dirty="0" smtClean="0"/>
              <a:t>(</a:t>
            </a:r>
            <a:r>
              <a:rPr lang="en-US" sz="1600" dirty="0" err="1" smtClean="0"/>
              <a:t>nakveti.shp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56411" y="4515852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186197" y="4515851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423111" y="3623258"/>
            <a:ext cx="142774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რიგითი ნომერი</a:t>
            </a:r>
            <a:endParaRPr lang="en-US" sz="1100" dirty="0"/>
          </a:p>
        </p:txBody>
      </p:sp>
      <p:sp>
        <p:nvSpPr>
          <p:cNvPr id="9" name="Content Placeholder 3"/>
          <p:cNvSpPr txBox="1">
            <a:spLocks/>
          </p:cNvSpPr>
          <p:nvPr/>
        </p:nvSpPr>
        <p:spPr>
          <a:xfrm>
            <a:off x="838200" y="1016412"/>
            <a:ext cx="1106655" cy="2307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200" dirty="0" smtClean="0"/>
              <a:t>დანიშნულება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6197" y="1377490"/>
            <a:ext cx="11778415" cy="1739815"/>
          </a:xfrm>
          <a:prstGeom prst="rect">
            <a:avLst/>
          </a:prstGeom>
        </p:spPr>
      </p:pic>
      <p:sp>
        <p:nvSpPr>
          <p:cNvPr id="13" name="Content Placeholder 3"/>
          <p:cNvSpPr txBox="1">
            <a:spLocks/>
          </p:cNvSpPr>
          <p:nvPr/>
        </p:nvSpPr>
        <p:spPr>
          <a:xfrm>
            <a:off x="1946877" y="888708"/>
            <a:ext cx="1451562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უფლების დამადასტურებელი დოკუმენტი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3391193" y="888703"/>
            <a:ext cx="1561369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დაინტერესებული პირის სახელი გვარი (პირადი ნომერი)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43426" y="1247143"/>
            <a:ext cx="0" cy="7369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</p:cNvCxnSpPr>
          <p:nvPr/>
        </p:nvCxnSpPr>
        <p:spPr>
          <a:xfrm flipH="1">
            <a:off x="1391527" y="1247143"/>
            <a:ext cx="1" cy="7369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555561" y="1311062"/>
            <a:ext cx="8020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114800" y="1311062"/>
            <a:ext cx="8021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3"/>
          <p:cNvSpPr txBox="1">
            <a:spLocks/>
          </p:cNvSpPr>
          <p:nvPr/>
        </p:nvSpPr>
        <p:spPr>
          <a:xfrm>
            <a:off x="4844777" y="1046672"/>
            <a:ext cx="960335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მისამართი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308413" y="1311062"/>
            <a:ext cx="8021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3"/>
          <p:cNvSpPr txBox="1">
            <a:spLocks/>
          </p:cNvSpPr>
          <p:nvPr/>
        </p:nvSpPr>
        <p:spPr>
          <a:xfrm>
            <a:off x="5743074" y="869963"/>
            <a:ext cx="1836821" cy="238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ამზომველის სახელი გვარი (პირადი ნომერი)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575739" y="1284809"/>
            <a:ext cx="8021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"/>
          <p:cNvSpPr txBox="1">
            <a:spLocks/>
          </p:cNvSpPr>
          <p:nvPr/>
        </p:nvSpPr>
        <p:spPr>
          <a:xfrm>
            <a:off x="8169509" y="997050"/>
            <a:ext cx="960335" cy="238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აზომვის მეთოდი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7769352" y="1284809"/>
            <a:ext cx="8021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3"/>
          <p:cNvSpPr txBox="1">
            <a:spLocks/>
          </p:cNvSpPr>
          <p:nvPr/>
        </p:nvSpPr>
        <p:spPr>
          <a:xfrm>
            <a:off x="9217993" y="1072927"/>
            <a:ext cx="960335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პერიმეტრი</a:t>
            </a:r>
          </a:p>
        </p:txBody>
      </p:sp>
      <p:sp>
        <p:nvSpPr>
          <p:cNvPr id="34" name="Content Placeholder 3"/>
          <p:cNvSpPr txBox="1">
            <a:spLocks/>
          </p:cNvSpPr>
          <p:nvPr/>
        </p:nvSpPr>
        <p:spPr>
          <a:xfrm>
            <a:off x="10581539" y="1038654"/>
            <a:ext cx="960335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ფართობი</a:t>
            </a:r>
          </a:p>
        </p:txBody>
      </p:sp>
      <p:sp>
        <p:nvSpPr>
          <p:cNvPr id="35" name="Content Placeholder 3"/>
          <p:cNvSpPr txBox="1">
            <a:spLocks/>
          </p:cNvSpPr>
          <p:nvPr/>
        </p:nvSpPr>
        <p:spPr>
          <a:xfrm>
            <a:off x="7437790" y="1046671"/>
            <a:ext cx="960335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თარიღი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8493672" y="1301613"/>
            <a:ext cx="8021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600577" y="1286820"/>
            <a:ext cx="8021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0989552" y="1301613"/>
            <a:ext cx="8021" cy="673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6197" y="4034714"/>
            <a:ext cx="8330477" cy="1855872"/>
          </a:xfrm>
          <a:prstGeom prst="rect">
            <a:avLst/>
          </a:prstGeom>
        </p:spPr>
      </p:pic>
      <p:sp>
        <p:nvSpPr>
          <p:cNvPr id="40" name="Content Placeholder 3"/>
          <p:cNvSpPr>
            <a:spLocks noGrp="1"/>
          </p:cNvSpPr>
          <p:nvPr>
            <p:ph sz="half" idx="2"/>
          </p:nvPr>
        </p:nvSpPr>
        <p:spPr>
          <a:xfrm>
            <a:off x="186197" y="3331932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შენობა-ნაგებობის ელ. ვერსია </a:t>
            </a:r>
            <a:r>
              <a:rPr lang="en-US" sz="1600" dirty="0" smtClean="0"/>
              <a:t>(</a:t>
            </a:r>
            <a:r>
              <a:rPr lang="en-US" sz="1600" dirty="0" err="1" smtClean="0"/>
              <a:t>shenoba.shp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41" name="Content Placeholder 3"/>
          <p:cNvSpPr txBox="1">
            <a:spLocks/>
          </p:cNvSpPr>
          <p:nvPr/>
        </p:nvSpPr>
        <p:spPr>
          <a:xfrm>
            <a:off x="1585014" y="3631841"/>
            <a:ext cx="142774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სართულიანობა</a:t>
            </a:r>
            <a:endParaRPr lang="en-US" sz="1100" dirty="0"/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2744130" y="3623257"/>
            <a:ext cx="142774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მდგომარეობა</a:t>
            </a:r>
            <a:endParaRPr lang="en-US" sz="1100" dirty="0"/>
          </a:p>
        </p:txBody>
      </p:sp>
      <p:sp>
        <p:nvSpPr>
          <p:cNvPr id="43" name="Content Placeholder 3"/>
          <p:cNvSpPr txBox="1">
            <a:spLocks/>
          </p:cNvSpPr>
          <p:nvPr/>
        </p:nvSpPr>
        <p:spPr>
          <a:xfrm>
            <a:off x="4011457" y="3623257"/>
            <a:ext cx="142774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შენობის ტიპი</a:t>
            </a:r>
            <a:endParaRPr lang="en-US" sz="1100" dirty="0"/>
          </a:p>
        </p:txBody>
      </p:sp>
      <p:sp>
        <p:nvSpPr>
          <p:cNvPr id="44" name="Content Placeholder 3"/>
          <p:cNvSpPr txBox="1">
            <a:spLocks/>
          </p:cNvSpPr>
          <p:nvPr/>
        </p:nvSpPr>
        <p:spPr>
          <a:xfrm>
            <a:off x="5233737" y="3616178"/>
            <a:ext cx="142774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პერიმეტრი</a:t>
            </a:r>
            <a:endParaRPr lang="en-US" sz="1100" dirty="0"/>
          </a:p>
        </p:txBody>
      </p:sp>
      <p:sp>
        <p:nvSpPr>
          <p:cNvPr id="45" name="Content Placeholder 3"/>
          <p:cNvSpPr txBox="1">
            <a:spLocks/>
          </p:cNvSpPr>
          <p:nvPr/>
        </p:nvSpPr>
        <p:spPr>
          <a:xfrm>
            <a:off x="6516855" y="3663116"/>
            <a:ext cx="142774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განაშენიანების ფართობი</a:t>
            </a:r>
            <a:endParaRPr lang="en-US" sz="1100" dirty="0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1391527" y="3841083"/>
            <a:ext cx="0" cy="821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2318814" y="3864145"/>
            <a:ext cx="0" cy="821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725330" y="3864145"/>
            <a:ext cx="0" cy="821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5947610" y="3864145"/>
            <a:ext cx="0" cy="821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5" idx="2"/>
          </p:cNvCxnSpPr>
          <p:nvPr/>
        </p:nvCxnSpPr>
        <p:spPr>
          <a:xfrm flipH="1">
            <a:off x="7226592" y="4019051"/>
            <a:ext cx="4137" cy="643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3398439" y="3864145"/>
            <a:ext cx="0" cy="821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ontent Placeholder 3"/>
          <p:cNvSpPr txBox="1">
            <a:spLocks/>
          </p:cNvSpPr>
          <p:nvPr/>
        </p:nvSpPr>
        <p:spPr>
          <a:xfrm>
            <a:off x="156411" y="1031396"/>
            <a:ext cx="1106655" cy="2307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200" dirty="0" smtClean="0"/>
              <a:t>შენიშვნა</a:t>
            </a:r>
          </a:p>
        </p:txBody>
      </p:sp>
    </p:spTree>
    <p:extLst>
      <p:ext uri="{BB962C8B-B14F-4D97-AF65-F5344CB8AC3E}">
        <p14:creationId xmlns:p14="http://schemas.microsoft.com/office/powerpoint/2010/main" xmlns="" val="15257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4998" y="4017096"/>
            <a:ext cx="8586286" cy="1971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4998" y="1237249"/>
            <a:ext cx="8529784" cy="19930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589"/>
            <a:ext cx="10515600" cy="360948"/>
          </a:xfrm>
        </p:spPr>
        <p:txBody>
          <a:bodyPr>
            <a:normAutofit/>
          </a:bodyPr>
          <a:lstStyle/>
          <a:p>
            <a:pPr algn="ctr"/>
            <a:r>
              <a:rPr lang="ka-GE" sz="1200" dirty="0" smtClean="0"/>
              <a:t>საკადასტრო აგეგმვითი/აზომვითი ნახაზის ელექტრონული ვერსიის მონაცემები</a:t>
            </a:r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4998" y="641684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ვალდებულება </a:t>
            </a:r>
            <a:r>
              <a:rPr lang="en-US" sz="1600" dirty="0" smtClean="0"/>
              <a:t>(</a:t>
            </a:r>
            <a:r>
              <a:rPr lang="en-US" sz="1600" dirty="0" err="1" smtClean="0"/>
              <a:t>valdebuleba.shp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56411" y="4515852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186197" y="4515851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Content Placeholder 3"/>
          <p:cNvSpPr txBox="1">
            <a:spLocks/>
          </p:cNvSpPr>
          <p:nvPr/>
        </p:nvSpPr>
        <p:spPr>
          <a:xfrm>
            <a:off x="2662718" y="896351"/>
            <a:ext cx="192820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ვალდებულების ტიპი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458003" y="1157722"/>
            <a:ext cx="0" cy="7470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33" idx="2"/>
          </p:cNvCxnSpPr>
          <p:nvPr/>
        </p:nvCxnSpPr>
        <p:spPr>
          <a:xfrm flipH="1">
            <a:off x="5947609" y="1181426"/>
            <a:ext cx="1" cy="7438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764379" y="1135664"/>
            <a:ext cx="12994" cy="822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3"/>
          <p:cNvSpPr txBox="1">
            <a:spLocks/>
          </p:cNvSpPr>
          <p:nvPr/>
        </p:nvSpPr>
        <p:spPr>
          <a:xfrm>
            <a:off x="5467442" y="943289"/>
            <a:ext cx="960335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პერიმეტრი</a:t>
            </a:r>
          </a:p>
        </p:txBody>
      </p:sp>
      <p:sp>
        <p:nvSpPr>
          <p:cNvPr id="34" name="Content Placeholder 3"/>
          <p:cNvSpPr txBox="1">
            <a:spLocks/>
          </p:cNvSpPr>
          <p:nvPr/>
        </p:nvSpPr>
        <p:spPr>
          <a:xfrm>
            <a:off x="7431127" y="940078"/>
            <a:ext cx="960335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ფარობი</a:t>
            </a:r>
          </a:p>
        </p:txBody>
      </p:sp>
      <p:sp>
        <p:nvSpPr>
          <p:cNvPr id="40" name="Content Placeholder 3"/>
          <p:cNvSpPr>
            <a:spLocks noGrp="1"/>
          </p:cNvSpPr>
          <p:nvPr>
            <p:ph sz="half" idx="2"/>
          </p:nvPr>
        </p:nvSpPr>
        <p:spPr>
          <a:xfrm>
            <a:off x="186197" y="3331932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ტოპოელემენტების ხაზი </a:t>
            </a:r>
            <a:r>
              <a:rPr lang="en-US" sz="1600" dirty="0" smtClean="0"/>
              <a:t>(</a:t>
            </a:r>
            <a:r>
              <a:rPr lang="en-US" sz="1600" dirty="0" err="1" smtClean="0"/>
              <a:t>topo_line.shp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2519416" y="3667671"/>
            <a:ext cx="1787889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ხაზის/საზღვრის ტიპი</a:t>
            </a:r>
            <a:endParaRPr lang="en-US" sz="1100" dirty="0"/>
          </a:p>
        </p:txBody>
      </p:sp>
      <p:sp>
        <p:nvSpPr>
          <p:cNvPr id="44" name="Content Placeholder 3"/>
          <p:cNvSpPr txBox="1">
            <a:spLocks/>
          </p:cNvSpPr>
          <p:nvPr/>
        </p:nvSpPr>
        <p:spPr>
          <a:xfrm>
            <a:off x="6096000" y="3623281"/>
            <a:ext cx="1772653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სიგრძე</a:t>
            </a:r>
            <a:endParaRPr lang="en-US" sz="11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930189" y="3864145"/>
            <a:ext cx="4011" cy="931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366355" y="3864145"/>
            <a:ext cx="2487" cy="929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11384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8464" y="4079303"/>
            <a:ext cx="9791700" cy="2228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6197" y="1230040"/>
            <a:ext cx="9791700" cy="20047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589"/>
            <a:ext cx="10515600" cy="360948"/>
          </a:xfrm>
        </p:spPr>
        <p:txBody>
          <a:bodyPr>
            <a:normAutofit/>
          </a:bodyPr>
          <a:lstStyle/>
          <a:p>
            <a:pPr algn="ctr"/>
            <a:r>
              <a:rPr lang="ka-GE" sz="1200" dirty="0" smtClean="0"/>
              <a:t>საკადასტრო აგეგმვითი/აზომვითი ნახაზის ელექტრონული ვერსიის მონაცემები</a:t>
            </a:r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4998" y="641684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ტოპოელემენტები (წერტილი) </a:t>
            </a:r>
            <a:r>
              <a:rPr lang="en-US" sz="1600" dirty="0" smtClean="0"/>
              <a:t>(</a:t>
            </a:r>
            <a:r>
              <a:rPr lang="en-US" sz="1600" dirty="0" err="1" smtClean="0"/>
              <a:t>topo_point.shp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56411" y="4515852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186197" y="4515851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Content Placeholder 3"/>
          <p:cNvSpPr txBox="1">
            <a:spLocks/>
          </p:cNvSpPr>
          <p:nvPr/>
        </p:nvSpPr>
        <p:spPr>
          <a:xfrm>
            <a:off x="2662718" y="896351"/>
            <a:ext cx="192820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წერტილის კოორდინატები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643792" y="1172448"/>
            <a:ext cx="0" cy="7470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960748" y="1167974"/>
            <a:ext cx="4090" cy="776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9216984" y="1119821"/>
            <a:ext cx="12994" cy="822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3"/>
          <p:cNvSpPr txBox="1">
            <a:spLocks/>
          </p:cNvSpPr>
          <p:nvPr/>
        </p:nvSpPr>
        <p:spPr>
          <a:xfrm>
            <a:off x="6096000" y="938711"/>
            <a:ext cx="1633946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წერტილის ტიპები</a:t>
            </a:r>
          </a:p>
        </p:txBody>
      </p:sp>
      <p:sp>
        <p:nvSpPr>
          <p:cNvPr id="34" name="Content Placeholder 3"/>
          <p:cNvSpPr txBox="1">
            <a:spLocks/>
          </p:cNvSpPr>
          <p:nvPr/>
        </p:nvSpPr>
        <p:spPr>
          <a:xfrm>
            <a:off x="8216493" y="768433"/>
            <a:ext cx="2037055" cy="238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წერტილების დასახელება (ლათინური ასოები)</a:t>
            </a:r>
          </a:p>
        </p:txBody>
      </p:sp>
      <p:sp>
        <p:nvSpPr>
          <p:cNvPr id="40" name="Content Placeholder 3"/>
          <p:cNvSpPr>
            <a:spLocks noGrp="1"/>
          </p:cNvSpPr>
          <p:nvPr>
            <p:ph sz="half" idx="2"/>
          </p:nvPr>
        </p:nvSpPr>
        <p:spPr>
          <a:xfrm>
            <a:off x="186197" y="3331932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ტოპოელემენტების პოლიგონი </a:t>
            </a:r>
            <a:r>
              <a:rPr lang="en-US" sz="1600" dirty="0" smtClean="0"/>
              <a:t>(</a:t>
            </a:r>
            <a:r>
              <a:rPr lang="en-US" sz="1600" dirty="0" err="1" smtClean="0"/>
              <a:t>topo_polygon.shp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2519416" y="3667671"/>
            <a:ext cx="1787889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პოლიგიონის ტიპი</a:t>
            </a:r>
            <a:endParaRPr lang="en-US" sz="1100" dirty="0"/>
          </a:p>
        </p:txBody>
      </p:sp>
      <p:sp>
        <p:nvSpPr>
          <p:cNvPr id="44" name="Content Placeholder 3"/>
          <p:cNvSpPr txBox="1">
            <a:spLocks/>
          </p:cNvSpPr>
          <p:nvPr/>
        </p:nvSpPr>
        <p:spPr>
          <a:xfrm>
            <a:off x="5802964" y="3654983"/>
            <a:ext cx="1772653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პერიმეტრი</a:t>
            </a:r>
            <a:endParaRPr lang="en-US" sz="11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689291" y="3936301"/>
            <a:ext cx="4011" cy="931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342429" y="3938154"/>
            <a:ext cx="2487" cy="929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3"/>
          <p:cNvSpPr txBox="1">
            <a:spLocks/>
          </p:cNvSpPr>
          <p:nvPr/>
        </p:nvSpPr>
        <p:spPr>
          <a:xfrm>
            <a:off x="7729946" y="3594918"/>
            <a:ext cx="1772653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პერიმეტრი</a:t>
            </a:r>
            <a:endParaRPr lang="en-US" sz="11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8616272" y="3917486"/>
            <a:ext cx="4011" cy="931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11383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4998" y="4158482"/>
            <a:ext cx="9813507" cy="19809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6411" y="1359448"/>
            <a:ext cx="9942094" cy="18091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589"/>
            <a:ext cx="10515600" cy="360948"/>
          </a:xfrm>
        </p:spPr>
        <p:txBody>
          <a:bodyPr>
            <a:normAutofit/>
          </a:bodyPr>
          <a:lstStyle/>
          <a:p>
            <a:pPr algn="ctr"/>
            <a:r>
              <a:rPr lang="ka-GE" sz="1200" dirty="0" smtClean="0"/>
              <a:t>საკადასტრო აგეგმვითი/აზომვითი ნახაზის ელექტრონული ვერსიის მონაცემები</a:t>
            </a:r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4998" y="641684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ხაზობრივი ნაგებობის თანმდევი წერტილოვანი ობიექტი </a:t>
            </a:r>
            <a:r>
              <a:rPr lang="en-US" sz="1600" dirty="0" smtClean="0"/>
              <a:t>(</a:t>
            </a:r>
            <a:r>
              <a:rPr lang="en-US" sz="1600" dirty="0" err="1" smtClean="0"/>
              <a:t>reg_line_point.shp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56411" y="4515852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186197" y="4515851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Content Placeholder 3"/>
          <p:cNvSpPr txBox="1">
            <a:spLocks/>
          </p:cNvSpPr>
          <p:nvPr/>
        </p:nvSpPr>
        <p:spPr>
          <a:xfrm>
            <a:off x="2077617" y="1009229"/>
            <a:ext cx="1928207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წერტილის კოორდინატები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945960" y="1252286"/>
            <a:ext cx="0" cy="7470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391253" y="1237624"/>
            <a:ext cx="4090" cy="776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992395" y="1191862"/>
            <a:ext cx="12994" cy="822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3"/>
          <p:cNvSpPr txBox="1">
            <a:spLocks/>
          </p:cNvSpPr>
          <p:nvPr/>
        </p:nvSpPr>
        <p:spPr>
          <a:xfrm>
            <a:off x="5735510" y="1038684"/>
            <a:ext cx="1633946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წერტილის ტიპები</a:t>
            </a:r>
          </a:p>
        </p:txBody>
      </p:sp>
      <p:sp>
        <p:nvSpPr>
          <p:cNvPr id="34" name="Content Placeholder 3"/>
          <p:cNvSpPr txBox="1">
            <a:spLocks/>
          </p:cNvSpPr>
          <p:nvPr/>
        </p:nvSpPr>
        <p:spPr>
          <a:xfrm>
            <a:off x="8003109" y="966186"/>
            <a:ext cx="2037055" cy="238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წერტილების ნუმერაცია</a:t>
            </a:r>
          </a:p>
        </p:txBody>
      </p:sp>
      <p:sp>
        <p:nvSpPr>
          <p:cNvPr id="40" name="Content Placeholder 3"/>
          <p:cNvSpPr>
            <a:spLocks noGrp="1"/>
          </p:cNvSpPr>
          <p:nvPr>
            <p:ph sz="half" idx="2"/>
          </p:nvPr>
        </p:nvSpPr>
        <p:spPr>
          <a:xfrm>
            <a:off x="186197" y="3331932"/>
            <a:ext cx="11907002" cy="2546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a-GE" sz="1600" dirty="0" smtClean="0"/>
              <a:t>ხაზობრივი ნაგებობა </a:t>
            </a:r>
            <a:r>
              <a:rPr lang="en-US" sz="1600" dirty="0" smtClean="0"/>
              <a:t>(</a:t>
            </a:r>
            <a:r>
              <a:rPr lang="en-US" sz="1600" dirty="0" err="1" smtClean="0"/>
              <a:t>reg_line.shp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1195747" y="3691441"/>
            <a:ext cx="2088341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ხაზობრივი ნაგებობის ტიპი</a:t>
            </a:r>
            <a:endParaRPr lang="en-US" sz="1100" dirty="0"/>
          </a:p>
        </p:txBody>
      </p:sp>
      <p:sp>
        <p:nvSpPr>
          <p:cNvPr id="44" name="Content Placeholder 3"/>
          <p:cNvSpPr txBox="1">
            <a:spLocks/>
          </p:cNvSpPr>
          <p:nvPr/>
        </p:nvSpPr>
        <p:spPr>
          <a:xfrm>
            <a:off x="3843745" y="3691441"/>
            <a:ext cx="1772653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ფაქტობრივი სიგრძე</a:t>
            </a:r>
            <a:endParaRPr lang="en-US" sz="11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4684028" y="3934448"/>
            <a:ext cx="4011" cy="931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2342604" y="3936301"/>
            <a:ext cx="2487" cy="929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3"/>
          <p:cNvSpPr txBox="1">
            <a:spLocks/>
          </p:cNvSpPr>
          <p:nvPr/>
        </p:nvSpPr>
        <p:spPr>
          <a:xfrm>
            <a:off x="6895756" y="3664242"/>
            <a:ext cx="1772653" cy="355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a-GE" sz="1100" dirty="0" smtClean="0"/>
              <a:t>გეგმარებითი სიგრძე</a:t>
            </a:r>
            <a:endParaRPr lang="en-US" sz="11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782083" y="3917039"/>
            <a:ext cx="4011" cy="931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84629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589"/>
            <a:ext cx="10515600" cy="360948"/>
          </a:xfrm>
        </p:spPr>
        <p:txBody>
          <a:bodyPr>
            <a:normAutofit/>
          </a:bodyPr>
          <a:lstStyle/>
          <a:p>
            <a:pPr algn="ctr"/>
            <a:r>
              <a:rPr lang="ka-GE" sz="1200" dirty="0" smtClean="0"/>
              <a:t>საკადასტრო აგეგმვითი/აზომვითი ნახაზის ფოტომასალა</a:t>
            </a:r>
            <a:endParaRPr lang="en-US" sz="1200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56411" y="4515852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186197" y="4515851"/>
            <a:ext cx="11907002" cy="1419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3" name="Content Placeholder 3"/>
          <p:cNvSpPr txBox="1">
            <a:spLocks/>
          </p:cNvSpPr>
          <p:nvPr/>
        </p:nvSpPr>
        <p:spPr>
          <a:xfrm>
            <a:off x="992630" y="1365314"/>
            <a:ext cx="1633946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ფოტო N1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6197" y="1722520"/>
            <a:ext cx="3246813" cy="29174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01321" y="1730541"/>
            <a:ext cx="3668378" cy="29014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70805" y="1722520"/>
            <a:ext cx="3891501" cy="2901404"/>
          </a:xfrm>
          <a:prstGeom prst="rect">
            <a:avLst/>
          </a:prstGeom>
        </p:spPr>
      </p:pic>
      <p:sp>
        <p:nvSpPr>
          <p:cNvPr id="27" name="Content Placeholder 3"/>
          <p:cNvSpPr txBox="1">
            <a:spLocks/>
          </p:cNvSpPr>
          <p:nvPr/>
        </p:nvSpPr>
        <p:spPr>
          <a:xfrm>
            <a:off x="5279027" y="1365312"/>
            <a:ext cx="1633946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ფოტო N2</a:t>
            </a:r>
          </a:p>
        </p:txBody>
      </p:sp>
      <p:sp>
        <p:nvSpPr>
          <p:cNvPr id="29" name="Content Placeholder 3"/>
          <p:cNvSpPr txBox="1">
            <a:spLocks/>
          </p:cNvSpPr>
          <p:nvPr/>
        </p:nvSpPr>
        <p:spPr>
          <a:xfrm>
            <a:off x="9296361" y="1365312"/>
            <a:ext cx="1633946" cy="2381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1100" dirty="0" smtClean="0"/>
              <a:t>ფოტო N3</a:t>
            </a:r>
          </a:p>
        </p:txBody>
      </p:sp>
    </p:spTree>
    <p:extLst>
      <p:ext uri="{BB962C8B-B14F-4D97-AF65-F5344CB8AC3E}">
        <p14:creationId xmlns:p14="http://schemas.microsoft.com/office/powerpoint/2010/main" xmlns="" val="2417669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519</Words>
  <Application>Microsoft Office PowerPoint</Application>
  <PresentationFormat>Custom</PresentationFormat>
  <Paragraphs>98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საკადასტრო აგეგმვითი/აზომვითი ნახაზის ქაღალდის და ელექტრონული მონაცემების შევსების ინსტრუქცია </vt:lpstr>
      <vt:lpstr>საკადასტრო აგეგმვითი/ ნახაზის ქაღალდის ვერსია</vt:lpstr>
      <vt:lpstr>საკადასტრო აგეგმვითი/ ნახაზის ქაღალდის ვერსია</vt:lpstr>
      <vt:lpstr>საკადასტრო აგეგმვითი/აზომვითი ნახაზის ელექტრონული ვერსიის მონაცემები</vt:lpstr>
      <vt:lpstr>საკადასტრო აგეგმვითი/აზომვითი ნახაზის ელექტრონული ვერსიის მონაცემები</vt:lpstr>
      <vt:lpstr>საკადასტრო აგეგმვითი/აზომვითი ნახაზის ელექტრონული ვერსიის მონაცემები</vt:lpstr>
      <vt:lpstr>საკადასტრო აგეგმვითი/აზომვითი ნახაზის ელექტრონული ვერსიის მონაცემები</vt:lpstr>
      <vt:lpstr>საკადასტრო აგეგმვითი/აზომვითი ნახაზის ფოტომასალა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საკადასტრო აზომვითი/აგეგმვითი ნახაზის</dc:title>
  <dc:creator>Dkapanadze</dc:creator>
  <cp:lastModifiedBy>test</cp:lastModifiedBy>
  <cp:revision>30</cp:revision>
  <dcterms:created xsi:type="dcterms:W3CDTF">2016-09-05T09:59:40Z</dcterms:created>
  <dcterms:modified xsi:type="dcterms:W3CDTF">2016-09-09T12:45:19Z</dcterms:modified>
</cp:coreProperties>
</file>